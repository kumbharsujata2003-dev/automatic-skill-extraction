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274320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100" b="1">
                <a:solidFill>
                  <a:srgbClr val="FFFFFF"/>
                </a:solidFill>
                <a:latin typeface="Aptos Display"/>
              </a:rPr>
              <a:t>INTERNSHIP
TASK PRESENTATIN</a:t>
            </a:r>
            <a:endParaRPr sz="3100" b="1">
              <a:solidFill>
                <a:srgbClr val="FFFFFF"/>
              </a:solidFill>
              <a:latin typeface="Aptos Display"/>
            </a:endParaRPr>
          </a:p>
          <a:p>
            <a:r>
              <a:rPr sz="2000" b="1">
                <a:solidFill>
                  <a:srgbClr val="D2E1F5"/>
                </a:solidFill>
                <a:latin typeface="Aptos"/>
              </a:rPr>
              <a:t>DAY 1 TO DAY 1</a:t>
            </a:r>
            <a:r>
              <a:rPr lang="en-US" sz="2000" b="1">
                <a:solidFill>
                  <a:srgbClr val="D2E1F5"/>
                </a:solidFill>
                <a:latin typeface="Aptos"/>
              </a:rPr>
              <a:t>9</a:t>
            </a:r>
            <a:endParaRPr lang="en-US" sz="2000" b="1">
              <a:solidFill>
                <a:srgbClr val="D2E1F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51960" y="1325880"/>
            <a:ext cx="7223760" cy="2368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400" b="1">
                <a:solidFill>
                  <a:srgbClr val="182B4D"/>
                </a:solidFill>
                <a:latin typeface="Aptos Display"/>
              </a:rPr>
              <a:t>Automatic Skill Extraction
from Job Descriptions</a:t>
            </a:r>
            <a:endParaRPr sz="3400" b="1">
              <a:solidFill>
                <a:srgbClr val="182B4D"/>
              </a:solidFill>
              <a:latin typeface="Aptos Display"/>
            </a:endParaRP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696F78"/>
                </a:solidFill>
                <a:latin typeface="Aptos"/>
              </a:rPr>
              <a:t>Intern Name: </a:t>
            </a:r>
            <a:r>
              <a:rPr sz="1500">
                <a:solidFill>
                  <a:srgbClr val="2D3137"/>
                </a:solidFill>
                <a:latin typeface="Aptos"/>
              </a:rPr>
              <a:t>Sujata Shivaji Kumbhar</a:t>
            </a:r>
            <a:endParaRPr sz="1500">
              <a:solidFill>
                <a:srgbClr val="2D3137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696F78"/>
                </a:solidFill>
                <a:latin typeface="Aptos"/>
              </a:rPr>
              <a:t>Dataset: </a:t>
            </a:r>
            <a:r>
              <a:rPr sz="1500">
                <a:solidFill>
                  <a:srgbClr val="2D3137"/>
                </a:solidFill>
                <a:latin typeface="Aptos"/>
              </a:rPr>
              <a:t>Monster India Job Dataset</a:t>
            </a:r>
            <a:endParaRPr sz="1500">
              <a:solidFill>
                <a:srgbClr val="2D3137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696F78"/>
                </a:solidFill>
                <a:latin typeface="Aptos"/>
              </a:rPr>
              <a:t>Tools: </a:t>
            </a:r>
            <a:r>
              <a:rPr sz="1500">
                <a:solidFill>
                  <a:srgbClr val="2D3137"/>
                </a:solidFill>
                <a:latin typeface="Aptos"/>
              </a:rPr>
              <a:t>Python, Pandas, NLTK, Google Colab</a:t>
            </a:r>
            <a:r>
              <a:rPr lang="en-US" sz="1500">
                <a:solidFill>
                  <a:srgbClr val="2D3137"/>
                </a:solidFill>
                <a:latin typeface="Aptos"/>
              </a:rPr>
              <a:t>,</a:t>
            </a:r>
            <a:r>
              <a:rPr lang="en-US" altLang="en-US" sz="1500">
                <a:solidFill>
                  <a:srgbClr val="2D3137"/>
                </a:solidFill>
                <a:latin typeface="Aptos"/>
              </a:rPr>
              <a:t>Streamlit</a:t>
            </a:r>
            <a:endParaRPr lang="en-US" altLang="en-US" sz="15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Problem Statement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 1 – Understanding the project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4434840"/>
          </a:xfrm>
          <a:prstGeom prst="rect">
            <a:avLst/>
          </a:prstGeom>
          <a:solidFill>
            <a:srgbClr val="B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99032"/>
            <a:ext cx="507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The Problem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1892808"/>
            <a:ext cx="50749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137"/>
                </a:solidFill>
                <a:latin typeface="Aptos"/>
              </a:rPr>
              <a:t>Job descriptions contain useful information such as job roles and required skills. Manually reading many job descriptions and identifying skills can be time-consuming.</a:t>
            </a:r>
            <a:endParaRPr sz="18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73152" cy="4434840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99032"/>
            <a:ext cx="5074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Project Objective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088" y="1892808"/>
            <a:ext cx="50749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137"/>
                </a:solidFill>
                <a:latin typeface="Aptos"/>
              </a:rPr>
              <a:t>Develop an automatic skill extraction workflow that processes job-description text and identifies the relevant job role and skills in a structured form.</a:t>
            </a:r>
            <a:endParaRPr sz="18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Business Use Case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How the project can support recruitment and job analysis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486400" cy="438912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137"/>
                </a:solidFill>
                <a:latin typeface="Aptos"/>
              </a:defRPr>
            </a:pPr>
            <a:r>
              <a:t>Reduce manual effort when reviewing large numbers of job descriptions.</a:t>
            </a:r>
          </a:p>
          <a:p>
            <a:pPr>
              <a:spcAft>
                <a:spcPts val="900"/>
              </a:spcAft>
              <a:defRPr sz="1900">
                <a:solidFill>
                  <a:srgbClr val="2D3137"/>
                </a:solidFill>
                <a:latin typeface="Aptos"/>
              </a:defRPr>
            </a:pPr>
            <a:r>
              <a:t>Identify important skills from job descriptions faster.</a:t>
            </a:r>
          </a:p>
          <a:p>
            <a:pPr>
              <a:spcAft>
                <a:spcPts val="900"/>
              </a:spcAft>
              <a:defRPr sz="1900">
                <a:solidFill>
                  <a:srgbClr val="2D3137"/>
                </a:solidFill>
                <a:latin typeface="Aptos"/>
              </a:defRPr>
            </a:pPr>
            <a:r>
              <a:t>Support recruitment teams in understanding skill requirements.</a:t>
            </a:r>
          </a:p>
          <a:p>
            <a:pPr>
              <a:spcAft>
                <a:spcPts val="900"/>
              </a:spcAft>
              <a:defRPr sz="1900">
                <a:solidFill>
                  <a:srgbClr val="2D3137"/>
                </a:solidFill>
                <a:latin typeface="Aptos"/>
              </a:defRPr>
            </a:pPr>
            <a:r>
              <a:t>Compare skill demand across different job roles.</a:t>
            </a:r>
          </a:p>
          <a:p>
            <a:pPr>
              <a:spcAft>
                <a:spcPts val="900"/>
              </a:spcAft>
              <a:defRPr sz="1900">
                <a:solidFill>
                  <a:srgbClr val="2D3137"/>
                </a:solidFill>
                <a:latin typeface="Aptos"/>
              </a:defRPr>
            </a:pPr>
            <a:r>
              <a:t>Provide structured skill information for further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17320"/>
            <a:ext cx="4526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417320"/>
            <a:ext cx="73152" cy="1234440"/>
          </a:xfrm>
          <a:prstGeom prst="rect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581912"/>
            <a:ext cx="4206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Input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30568" y="20756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137"/>
                </a:solidFill>
                <a:latin typeface="Aptos"/>
              </a:rPr>
              <a:t>Job description text</a:t>
            </a:r>
            <a:endParaRPr sz="18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29400" y="2788920"/>
            <a:ext cx="4526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2788920"/>
            <a:ext cx="73152" cy="1234440"/>
          </a:xfrm>
          <a:prstGeom prst="rect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953512"/>
            <a:ext cx="4206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Processing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30568" y="3447287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137"/>
                </a:solidFill>
                <a:latin typeface="Aptos"/>
              </a:rPr>
              <a:t>NLP + extraction + normalization</a:t>
            </a:r>
            <a:endParaRPr sz="18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29400" y="4160520"/>
            <a:ext cx="4526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4160520"/>
            <a:ext cx="73152" cy="1234440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4325112"/>
            <a:ext cx="4206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Output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30568" y="48188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137"/>
                </a:solidFill>
                <a:latin typeface="Aptos"/>
              </a:rPr>
              <a:t>Role and skills in structured form</a:t>
            </a:r>
            <a:endParaRPr sz="18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Dataset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Days 2–3 – Monster India Job Dataset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251460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2331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F5D9D"/>
                </a:solidFill>
                <a:latin typeface="Aptos Display"/>
              </a:rPr>
              <a:t>14,146</a:t>
            </a:r>
            <a:endParaRPr sz="2600" b="1">
              <a:solidFill>
                <a:srgbClr val="2F5D9D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103120"/>
            <a:ext cx="2368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Job records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51460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90472"/>
            <a:ext cx="2331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F8284"/>
                </a:solidFill>
                <a:latin typeface="Aptos Display"/>
              </a:rPr>
              <a:t>24</a:t>
            </a:r>
            <a:endParaRPr sz="2600" b="1">
              <a:solidFill>
                <a:srgbClr val="2F8284"/>
              </a:solidFill>
              <a:latin typeface="Aptos Displ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02152" y="2103120"/>
            <a:ext cx="2368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Columns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251460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90472"/>
            <a:ext cx="2331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44855F"/>
                </a:solidFill>
                <a:latin typeface="Aptos Display"/>
              </a:rPr>
              <a:t>10,662</a:t>
            </a:r>
            <a:endParaRPr sz="2600" b="1">
              <a:solidFill>
                <a:srgbClr val="44855F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45352" y="2103120"/>
            <a:ext cx="2368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Unique job titles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15400" y="1325880"/>
            <a:ext cx="251460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490472"/>
            <a:ext cx="2331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DB8B38"/>
                </a:solidFill>
                <a:latin typeface="Aptos Display"/>
              </a:rPr>
              <a:t>0</a:t>
            </a:r>
            <a:endParaRPr sz="2600" b="1">
              <a:solidFill>
                <a:srgbClr val="DB8B38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88552" y="2103120"/>
            <a:ext cx="2368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Duplicate records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063240"/>
            <a:ext cx="73152" cy="2331720"/>
          </a:xfrm>
          <a:prstGeom prst="rect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227832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Important Fields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8" y="3721608"/>
            <a:ext cx="493776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D3137"/>
                </a:solidFill>
                <a:latin typeface="Aptos"/>
              </a:rPr>
              <a:t>title • description • company_name • skills • qualifications • responsibilities • address_locality • experience</a:t>
            </a:r>
            <a:endParaRPr sz="17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72200" y="306324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063240"/>
            <a:ext cx="73152" cy="2331720"/>
          </a:xfrm>
          <a:prstGeom prst="rect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227832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Dataset Observations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73368" y="3721608"/>
            <a:ext cx="493776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D3137"/>
                </a:solidFill>
                <a:latin typeface="Aptos"/>
              </a:rPr>
              <a:t>Highest location count: Bengaluru / Bangalore (3,990). Average description length: about 2,323 characters.</a:t>
            </a:r>
            <a:endParaRPr sz="17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Data Cleaning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Days 4–5 – Preparing text and building a skill taxonomy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440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4526280"/>
          </a:xfrm>
          <a:prstGeom prst="rect">
            <a:avLst/>
          </a:prstGeom>
          <a:solidFill>
            <a:srgbClr val="B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399032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Day 4 – Text Cleaning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1892808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3137"/>
                </a:solidFill>
                <a:latin typeface="Aptos"/>
              </a:rPr>
              <a:t>Removed or handled:
• HTML tags
• URLs and email addresses
• Special characters
• Extra spaces
• Unnecessary symbols
• Lowercased text
Created the clean_description column and prepared clean_jobs.csv.</a:t>
            </a:r>
            <a:endParaRPr sz="16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440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73152" cy="4526280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399032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Day 5 – Skill Taxonomy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3368" y="1892808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3137"/>
                </a:solidFill>
                <a:latin typeface="Aptos"/>
              </a:rPr>
              <a:t>Created skill categories such as Programming, Database, Data Analytics, Machine Learning and Cloud.
Examples of aliases:
python3 → Python
ms excel → Excel
postgres → PostgreSQL
powerbi → Power BI</a:t>
            </a:r>
            <a:endParaRPr sz="16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EDA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 3 – Exploratory Data Analysis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56032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23774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F5D9D"/>
                </a:solidFill>
                <a:latin typeface="Aptos Display"/>
              </a:rPr>
              <a:t>3,990</a:t>
            </a:r>
            <a:endParaRPr sz="2600" b="1">
              <a:solidFill>
                <a:srgbClr val="2F5D9D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011680"/>
            <a:ext cx="24140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Bengaluru / Bangalore jobs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20440" y="1234440"/>
            <a:ext cx="256032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399032"/>
            <a:ext cx="23774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F8284"/>
                </a:solidFill>
                <a:latin typeface="Aptos Display"/>
              </a:rPr>
              <a:t>2,323</a:t>
            </a:r>
            <a:endParaRPr sz="2600" b="1">
              <a:solidFill>
                <a:srgbClr val="2F8284"/>
              </a:solidFill>
              <a:latin typeface="Aptos Displ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93592" y="2011680"/>
            <a:ext cx="24140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Avg. description length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55080" y="1234440"/>
            <a:ext cx="256032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99032"/>
            <a:ext cx="23774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44855F"/>
                </a:solidFill>
                <a:latin typeface="Aptos Display"/>
              </a:rPr>
              <a:t>19,030</a:t>
            </a:r>
            <a:endParaRPr sz="2600" b="1">
              <a:solidFill>
                <a:srgbClr val="44855F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28232" y="2011680"/>
            <a:ext cx="24140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Max. description length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89720" y="1234440"/>
            <a:ext cx="2286000" cy="141732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399032"/>
            <a:ext cx="2103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DB8B38"/>
                </a:solidFill>
                <a:latin typeface="Aptos Display"/>
              </a:rPr>
              <a:t>18</a:t>
            </a:r>
            <a:endParaRPr sz="2600" b="1">
              <a:solidFill>
                <a:srgbClr val="DB8B38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62872" y="2011680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Min. description length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971800"/>
            <a:ext cx="73152" cy="2240280"/>
          </a:xfrm>
          <a:prstGeom prst="rect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13639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Visualizations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8" y="3630168"/>
            <a:ext cx="31546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3137"/>
                </a:solidFill>
                <a:latin typeface="Aptos"/>
              </a:rPr>
              <a:t>Top job titles
Jobs by location
Description length distribution
Missing values
Top companies</a:t>
            </a:r>
            <a:endParaRPr sz="15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89120" y="297180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971800"/>
            <a:ext cx="73152" cy="2240280"/>
          </a:xfrm>
          <a:prstGeom prst="rect">
            <a:avLst/>
          </a:prstGeom>
          <a:solidFill>
            <a:srgbClr val="B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13639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Missing Values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90288" y="3630168"/>
            <a:ext cx="31546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3137"/>
                </a:solidFill>
                <a:latin typeface="Aptos"/>
              </a:rPr>
              <a:t>Qualifications: 12,872
Skills: 5,073
Months of experience: 4,225
Postal code: 14,146</a:t>
            </a:r>
            <a:endParaRPr sz="15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92440" y="297180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2971800"/>
            <a:ext cx="73152" cy="2240280"/>
          </a:xfrm>
          <a:prstGeom prst="rect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136392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Key Finding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93608" y="3630168"/>
            <a:ext cx="31546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D3137"/>
                </a:solidFill>
                <a:latin typeface="Aptos"/>
              </a:rPr>
              <a:t>The dataset contains a wide variety of job roles and locations, with several fields having substantial missing values.</a:t>
            </a:r>
            <a:endParaRPr sz="15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6096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NLP Pipeline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Days 6, 9, 10, 11 and 12 – From text preprocessing to semantic analysis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9718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581912"/>
            <a:ext cx="502920" cy="502920"/>
          </a:xfrm>
          <a:prstGeom prst="ellipse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3677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9032" y="15544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B4D"/>
                </a:solidFill>
                <a:latin typeface="Aptos Display"/>
              </a:rPr>
              <a:t>Tokenization</a:t>
            </a:r>
            <a:endParaRPr sz="16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99032" y="2075688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D3137"/>
                </a:solidFill>
                <a:latin typeface="Aptos"/>
              </a:rPr>
              <a:t>Split text into tokens</a:t>
            </a:r>
            <a:endParaRPr sz="12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069080" y="1325880"/>
            <a:ext cx="29718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33672" y="1581912"/>
            <a:ext cx="502920" cy="502920"/>
          </a:xfrm>
          <a:prstGeom prst="ellipse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63677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73752" y="15544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B4D"/>
                </a:solidFill>
                <a:latin typeface="Aptos Display"/>
              </a:rPr>
              <a:t>Stopword Removal</a:t>
            </a:r>
            <a:endParaRPr sz="16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73752" y="2075688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D3137"/>
                </a:solidFill>
                <a:latin typeface="Aptos"/>
              </a:rPr>
              <a:t>Remove common words</a:t>
            </a:r>
            <a:endParaRPr sz="12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543800" y="1325880"/>
            <a:ext cx="29718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08392" y="1581912"/>
            <a:ext cx="502920" cy="502920"/>
          </a:xfrm>
          <a:prstGeom prst="ellipse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163677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48472" y="15544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B4D"/>
                </a:solidFill>
                <a:latin typeface="Aptos Display"/>
              </a:rPr>
              <a:t>Lemmatization</a:t>
            </a:r>
            <a:endParaRPr sz="16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48472" y="2075688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D3137"/>
                </a:solidFill>
                <a:latin typeface="Aptos"/>
              </a:rPr>
              <a:t>Normalize word forms</a:t>
            </a:r>
            <a:endParaRPr sz="12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3657600"/>
            <a:ext cx="29718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3913632"/>
            <a:ext cx="502920" cy="502920"/>
          </a:xfrm>
          <a:prstGeom prst="ellipse">
            <a:avLst/>
          </a:prstGeom>
          <a:solidFill>
            <a:srgbClr val="DB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96849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99032" y="3886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B4D"/>
                </a:solidFill>
                <a:latin typeface="Aptos Display"/>
              </a:rPr>
              <a:t>TF-IDF</a:t>
            </a:r>
            <a:endParaRPr sz="16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99032" y="4407408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D3137"/>
                </a:solidFill>
                <a:latin typeface="Aptos"/>
              </a:rPr>
              <a:t>Find important terms</a:t>
            </a:r>
            <a:endParaRPr sz="12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069080" y="3657600"/>
            <a:ext cx="29718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33672" y="3913632"/>
            <a:ext cx="502920" cy="502920"/>
          </a:xfrm>
          <a:prstGeom prst="ellipse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1688" y="396849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73752" y="3886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B4D"/>
                </a:solidFill>
                <a:latin typeface="Aptos Display"/>
              </a:rPr>
              <a:t>N-Grams</a:t>
            </a:r>
            <a:endParaRPr sz="16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73752" y="4407408"/>
            <a:ext cx="18745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D3137"/>
                </a:solidFill>
                <a:latin typeface="Aptos"/>
              </a:rPr>
              <a:t>Capture multi-word skills</a:t>
            </a:r>
            <a:endParaRPr sz="12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543800" y="3657600"/>
            <a:ext cx="2971800" cy="173736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08392" y="3913632"/>
            <a:ext cx="502920" cy="502920"/>
          </a:xfrm>
          <a:prstGeom prst="ellipse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6408" y="396849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48472" y="3886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B4D"/>
                </a:solidFill>
                <a:latin typeface="Aptos Display"/>
              </a:rPr>
              <a:t>Embeddings / NER</a:t>
            </a:r>
            <a:endParaRPr sz="16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55610" y="4407535"/>
            <a:ext cx="2167255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D3137"/>
                </a:solidFill>
                <a:latin typeface="Aptos"/>
              </a:rPr>
              <a:t>Explore semantic and entity information</a:t>
            </a:r>
            <a:endParaRPr sz="125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Rule-Based Approach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Days 7–8 and final normalization in Day 17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8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468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73152" cy="3017520"/>
          </a:xfrm>
          <a:prstGeom prst="rect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Skill Dictionary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2075688"/>
            <a:ext cx="214884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2D3137"/>
                </a:solidFill>
                <a:latin typeface="Aptos"/>
              </a:rPr>
              <a:t>Python • SQL • Power BI • Tableau • Excel • AWS</a:t>
            </a:r>
            <a:endParaRPr sz="14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3081528" y="2423160"/>
            <a:ext cx="320040" cy="594360"/>
          </a:xfrm>
          <a:prstGeom prst="chevron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1417320"/>
            <a:ext cx="2468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417320"/>
            <a:ext cx="73152" cy="3017520"/>
          </a:xfrm>
          <a:prstGeom prst="rect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58191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Text Matching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30168" y="2075688"/>
            <a:ext cx="214884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2D3137"/>
                </a:solidFill>
                <a:latin typeface="Aptos"/>
              </a:rPr>
              <a:t>Check known skills in job-description text</a:t>
            </a:r>
            <a:endParaRPr sz="14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5916168" y="2423160"/>
            <a:ext cx="320040" cy="594360"/>
          </a:xfrm>
          <a:prstGeom prst="chevron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2468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73152" cy="3017520"/>
          </a:xfrm>
          <a:prstGeom prst="rect">
            <a:avLst/>
          </a:prstGeom>
          <a:solidFill>
            <a:srgbClr val="DB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58191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Advanced Matching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64808" y="2075688"/>
            <a:ext cx="214884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2D3137"/>
                </a:solidFill>
                <a:latin typeface="Aptos"/>
              </a:rPr>
              <a:t>Regex / aliases for different skill forms</a:t>
            </a:r>
            <a:endParaRPr sz="14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8750808" y="2423160"/>
            <a:ext cx="320040" cy="594360"/>
          </a:xfrm>
          <a:prstGeom prst="chevron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98280" y="1417320"/>
            <a:ext cx="2468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417320"/>
            <a:ext cx="73152" cy="3017520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158191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Normalization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99448" y="2075688"/>
            <a:ext cx="214884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2D3137"/>
                </a:solidFill>
                <a:latin typeface="Aptos"/>
              </a:rPr>
              <a:t>Raw skill → cleaned form → canonical skill</a:t>
            </a:r>
            <a:endParaRPr sz="14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423160" y="4965065"/>
            <a:ext cx="7315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23160" y="4965065"/>
            <a:ext cx="73152" cy="960120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24328" y="4965192"/>
            <a:ext cx="6995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Example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24328" y="5458968"/>
            <a:ext cx="6995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D3137"/>
                </a:solidFill>
                <a:latin typeface="Aptos"/>
              </a:rPr>
              <a:t>python3 / python 3 / python programming → Python</a:t>
            </a:r>
            <a:endParaRPr sz="17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Machine Learning Approach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Days 13–15 – Supervised skill classification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9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657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4389120"/>
          </a:xfrm>
          <a:prstGeom prst="rect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99032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Training Pipeline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1892808"/>
            <a:ext cx="333756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137"/>
                </a:solidFill>
                <a:latin typeface="Aptos"/>
              </a:rPr>
              <a:t>Job text
↓
Preprocessing
↓
TF-IDF
↓
Logistic Regression
↓
Skill category</a:t>
            </a:r>
            <a:endParaRPr sz="18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6280" y="1234440"/>
            <a:ext cx="3200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234440"/>
            <a:ext cx="73152" cy="4389120"/>
          </a:xfrm>
          <a:prstGeom prst="rect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399032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Models Evaluated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27448" y="1892808"/>
            <a:ext cx="288036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3137"/>
                </a:solidFill>
                <a:latin typeface="Aptos"/>
              </a:rPr>
              <a:t>• Logistic Regression
• Decision Tree
• Random Forest
• KNN
The supervised approach used TF-IDF features with machine-learning models.</a:t>
            </a:r>
            <a:endParaRPr sz="16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55279" y="123444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234440"/>
            <a:ext cx="73152" cy="4389120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399032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Evaluation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56448" y="1892808"/>
            <a:ext cx="32461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3137"/>
                </a:solidFill>
                <a:latin typeface="Aptos"/>
              </a:rPr>
              <a:t>Accuracy and other model evaluation measures were considered.
The model evaluation stage compared the performance of the trained approaches before selecting the stronger result.</a:t>
            </a:r>
            <a:endParaRPr sz="16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Transformer Approach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 14 – Advanced NLP component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10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337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73152" cy="4343400"/>
          </a:xfrm>
          <a:prstGeom prst="rect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4475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Traditional NLP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3137"/>
                </a:solidFill>
                <a:latin typeface="Aptos"/>
              </a:rPr>
              <a:t>TF-IDF
Word features
Rule-based matching
Useful for direct and interpretable skill matching.</a:t>
            </a:r>
            <a:endParaRPr sz="16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34840" y="1280160"/>
            <a:ext cx="3337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80160"/>
            <a:ext cx="73152" cy="4343400"/>
          </a:xfrm>
          <a:prstGeom prst="rect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4475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Transformer Concept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6007" y="193852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3137"/>
                </a:solidFill>
                <a:latin typeface="Aptos"/>
              </a:rPr>
              <a:t>BERT
DistilBERT
RoBERTa
BERT-NER
Transformers can use contextual information to identify entities and skills.</a:t>
            </a:r>
            <a:endParaRPr sz="16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1280160"/>
            <a:ext cx="3337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73152" cy="4343400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44475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Project Learning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30768" y="193852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3137"/>
                </a:solidFill>
                <a:latin typeface="Aptos"/>
              </a:rPr>
              <a:t>The transformer stage introduced contextual entity extraction and showed how advanced NLP can extend beyond exact keyword matching.</a:t>
            </a:r>
            <a:endParaRPr sz="16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Model Comparison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 15 – Actual model evaluation results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11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60120" y="1417320"/>
            <a:ext cx="5486400" cy="594360"/>
          </a:xfrm>
          <a:prstGeom prst="rect">
            <a:avLst/>
          </a:prstGeom>
          <a:solidFill>
            <a:srgbClr val="18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52704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Model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46520" y="1417320"/>
            <a:ext cx="2743200" cy="594360"/>
          </a:xfrm>
          <a:prstGeom prst="rect">
            <a:avLst/>
          </a:prstGeom>
          <a:solidFill>
            <a:srgbClr val="18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5270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Accuracy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0120" y="2011680"/>
            <a:ext cx="54864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15798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>
                <a:solidFill>
                  <a:srgbClr val="2D3137"/>
                </a:solidFill>
              </a:rPr>
              <a:t>Logistic Regression</a:t>
            </a:r>
            <a:endParaRPr sz="1450" b="1">
              <a:solidFill>
                <a:srgbClr val="2D3137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46520" y="2011680"/>
            <a:ext cx="27432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157984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>
                <a:solidFill>
                  <a:srgbClr val="2D3137"/>
                </a:solidFill>
              </a:rPr>
              <a:t>0.998642</a:t>
            </a:r>
            <a:endParaRPr sz="1450">
              <a:solidFill>
                <a:srgbClr val="2D3137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60120" y="2670048"/>
            <a:ext cx="5486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28163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>
                <a:solidFill>
                  <a:srgbClr val="2D3137"/>
                </a:solidFill>
              </a:rPr>
              <a:t>Decision Tree</a:t>
            </a:r>
            <a:endParaRPr sz="1450" b="1">
              <a:solidFill>
                <a:srgbClr val="2D3137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46520" y="2670048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81635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>
                <a:solidFill>
                  <a:srgbClr val="2D3137"/>
                </a:solidFill>
              </a:rPr>
              <a:t>0.999229</a:t>
            </a:r>
            <a:endParaRPr sz="1450">
              <a:solidFill>
                <a:srgbClr val="2D3137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60120" y="3328416"/>
            <a:ext cx="54864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474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>
                <a:solidFill>
                  <a:srgbClr val="2D3137"/>
                </a:solidFill>
              </a:rPr>
              <a:t>Random Forest</a:t>
            </a:r>
            <a:endParaRPr sz="1450" b="1">
              <a:solidFill>
                <a:srgbClr val="2D3137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46520" y="3328416"/>
            <a:ext cx="27432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34747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>
                <a:solidFill>
                  <a:srgbClr val="2D3137"/>
                </a:solidFill>
              </a:rPr>
              <a:t>0.999560</a:t>
            </a:r>
            <a:endParaRPr sz="1450">
              <a:solidFill>
                <a:srgbClr val="2D3137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60120" y="3986784"/>
            <a:ext cx="5486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13308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>
                <a:solidFill>
                  <a:srgbClr val="2D3137"/>
                </a:solidFill>
              </a:rPr>
              <a:t>KNN</a:t>
            </a:r>
            <a:endParaRPr sz="1450" b="1">
              <a:solidFill>
                <a:srgbClr val="2D3137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46520" y="3986784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41330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>
                <a:solidFill>
                  <a:srgbClr val="2D3137"/>
                </a:solidFill>
              </a:rPr>
              <a:t>0.999449</a:t>
            </a:r>
            <a:endParaRPr sz="1450">
              <a:solidFill>
                <a:srgbClr val="2D3137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0120" y="5239385"/>
            <a:ext cx="9601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5203190"/>
            <a:ext cx="73152" cy="777240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018" y="5210937"/>
            <a:ext cx="9281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Best accuracy in this comparison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61288" y="5641848"/>
            <a:ext cx="92811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2D3137"/>
                </a:solidFill>
                <a:latin typeface="Aptos"/>
              </a:rPr>
              <a:t>Random Forest – 0.999560</a:t>
            </a:r>
            <a:endParaRPr sz="17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Error Analysis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 16 – Understanding possible extraction errors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12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73152" cy="1645920"/>
          </a:xfrm>
          <a:prstGeom prst="rect">
            <a:avLst/>
          </a:prstGeom>
          <a:solidFill>
            <a:srgbClr val="B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False Positive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198424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D3137"/>
                </a:solidFill>
                <a:latin typeface="Aptos"/>
              </a:rPr>
              <a:t>Skill predicted when it is not present</a:t>
            </a:r>
            <a:endParaRPr sz="13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73152" cy="1645920"/>
          </a:xfrm>
          <a:prstGeom prst="rect">
            <a:avLst/>
          </a:prstGeom>
          <a:solidFill>
            <a:srgbClr val="DB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False Negative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198424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D3137"/>
                </a:solidFill>
                <a:latin typeface="Aptos"/>
              </a:rPr>
              <a:t>Relevant skill is missed</a:t>
            </a:r>
            <a:endParaRPr sz="13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83880" y="132588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325880"/>
            <a:ext cx="73152" cy="1645920"/>
          </a:xfrm>
          <a:prstGeom prst="rect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Wrong / Partial Entity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5048" y="198424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D3137"/>
                </a:solidFill>
                <a:latin typeface="Aptos"/>
              </a:rPr>
              <a:t>Incorrect or incomplete skill span</a:t>
            </a:r>
            <a:endParaRPr sz="13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338328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383280"/>
            <a:ext cx="73152" cy="1645920"/>
          </a:xfrm>
          <a:prstGeom prst="rect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5478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Duplicate Skill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528" y="404164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D3137"/>
                </a:solidFill>
                <a:latin typeface="Aptos"/>
              </a:rPr>
              <a:t>Same skill appears more than once</a:t>
            </a:r>
            <a:endParaRPr sz="13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89120" y="338328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383280"/>
            <a:ext cx="73152" cy="1645920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5478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Unknown Skill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90288" y="404164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D3137"/>
                </a:solidFill>
                <a:latin typeface="Aptos"/>
              </a:rPr>
              <a:t>Skill is outside the known dictionary</a:t>
            </a:r>
            <a:endParaRPr sz="13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83880" y="338328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3383280"/>
            <a:ext cx="73152" cy="1645920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35478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Synonym / Spelling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85048" y="404164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D3137"/>
                </a:solidFill>
                <a:latin typeface="Aptos"/>
              </a:rPr>
              <a:t>Different wording creates mismatch</a:t>
            </a:r>
            <a:endParaRPr sz="1350">
              <a:solidFill>
                <a:srgbClr val="2D3137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423160" y="5532120"/>
            <a:ext cx="7196455" cy="8655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23160" y="5661025"/>
            <a:ext cx="73152" cy="658368"/>
          </a:xfrm>
          <a:prstGeom prst="rect">
            <a:avLst/>
          </a:prstGeom>
          <a:solidFill>
            <a:srgbClr val="DB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4328" y="5696712"/>
            <a:ext cx="6995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Example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24328" y="6071616"/>
            <a:ext cx="6995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D3137"/>
                </a:solidFill>
                <a:latin typeface="Aptos"/>
              </a:rPr>
              <a:t>Python 3 → Python can be treated as a partial/synonym-style normalization issue.</a:t>
            </a:r>
            <a:endParaRPr sz="125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91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Dashboard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Day 18 – Power BI business dashboard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13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2148840" cy="123444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07592"/>
            <a:ext cx="19659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F5D9D"/>
                </a:solidFill>
                <a:latin typeface="Aptos Display"/>
              </a:rPr>
              <a:t>14,146</a:t>
            </a:r>
            <a:endParaRPr sz="2600" b="1">
              <a:solidFill>
                <a:srgbClr val="2F5D9D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1920240"/>
            <a:ext cx="2002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Total Jobs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88920" y="1143000"/>
            <a:ext cx="2148840" cy="123444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307592"/>
            <a:ext cx="19659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F8284"/>
                </a:solidFill>
                <a:latin typeface="Aptos Display"/>
              </a:rPr>
              <a:t>6,396</a:t>
            </a:r>
            <a:endParaRPr sz="2600" b="1">
              <a:solidFill>
                <a:srgbClr val="2F8284"/>
              </a:solidFill>
              <a:latin typeface="Aptos Displ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62072" y="1920240"/>
            <a:ext cx="2002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Unique Skills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74920" y="1143000"/>
            <a:ext cx="2148840" cy="123444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9464" y="1307592"/>
            <a:ext cx="53975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600" b="1">
                <a:solidFill>
                  <a:srgbClr val="44855F"/>
                </a:solidFill>
                <a:latin typeface="Aptos Display"/>
              </a:rPr>
              <a:t>20</a:t>
            </a:r>
            <a:endParaRPr lang="en-US" sz="2600" b="1">
              <a:solidFill>
                <a:srgbClr val="44855F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48072" y="1920240"/>
            <a:ext cx="2002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Top Skill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60920" y="1143000"/>
            <a:ext cx="2148840" cy="123444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307592"/>
            <a:ext cx="19659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DB8B38"/>
                </a:solidFill>
                <a:latin typeface="Aptos Display"/>
              </a:rPr>
              <a:t>83</a:t>
            </a:r>
            <a:endParaRPr sz="2600" b="1">
              <a:solidFill>
                <a:srgbClr val="DB8B38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34072" y="1920240"/>
            <a:ext cx="2002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Top Job Role count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46920" y="1143000"/>
            <a:ext cx="2057400" cy="1234440"/>
          </a:xfrm>
          <a:prstGeom prst="roundRect">
            <a:avLst/>
          </a:prstGeom>
          <a:solidFill>
            <a:srgbClr val="F7F8FA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1307592"/>
            <a:ext cx="187451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B24C4C"/>
                </a:solidFill>
                <a:latin typeface="Aptos Display"/>
              </a:rPr>
              <a:t>Power BI</a:t>
            </a:r>
            <a:endParaRPr sz="2600" b="1">
              <a:solidFill>
                <a:srgbClr val="B24C4C"/>
              </a:solidFill>
              <a:latin typeface="Aptos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20072" y="1920240"/>
            <a:ext cx="1911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696F78"/>
                </a:solidFill>
                <a:latin typeface="Aptos"/>
              </a:rPr>
              <a:t>Technology view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2788920"/>
            <a:ext cx="5349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2788920"/>
            <a:ext cx="73152" cy="2331720"/>
          </a:xfrm>
          <a:prstGeom prst="rect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295351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Main Visuals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5528" y="3447287"/>
            <a:ext cx="50292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3137"/>
                </a:solidFill>
                <a:latin typeface="Aptos"/>
              </a:rPr>
              <a:t>Top 20 Skills
Skill Demand by Job Role
Skill Trends using posted dates
KPI cards for business-level analysis</a:t>
            </a:r>
            <a:endParaRPr sz="1600">
              <a:solidFill>
                <a:srgbClr val="2D3137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72200" y="2788920"/>
            <a:ext cx="5349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788920"/>
            <a:ext cx="73152" cy="2331720"/>
          </a:xfrm>
          <a:prstGeom prst="rect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2953512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Dashboard Result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73368" y="3447287"/>
            <a:ext cx="50292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3137"/>
                </a:solidFill>
                <a:latin typeface="Aptos"/>
              </a:rPr>
              <a:t>The Power BI dashboard converts the processed skill data into an easy-to-read business view for understanding job and skill demand.</a:t>
            </a:r>
            <a:endParaRPr sz="16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52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Application Demo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Day 19 – Streamlit Application Demo</a:t>
            </a:r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14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4251960"/>
          </a:xfrm>
          <a:prstGeom prst="rect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90472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/>
              <a:t>Input – Job Description</a:t>
            </a:r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841247" y="1984248"/>
            <a:ext cx="4983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Looking for Data Analyst with SQL, Python, Power BI and Excel experience.</a:t>
            </a:r>
            <a:endParaRPr sz="1700"/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035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251960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490472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/>
              <a:t>Output – Detected Skills &amp; Categories</a:t>
            </a:r>
            <a:endParaRPr sz="1500"/>
          </a:p>
        </p:txBody>
      </p:sp>
      <p:sp>
        <p:nvSpPr>
          <p:cNvPr id="14" name="TextBox 13"/>
          <p:cNvSpPr txBox="1"/>
          <p:nvPr/>
        </p:nvSpPr>
        <p:spPr>
          <a:xfrm>
            <a:off x="6464807" y="1984248"/>
            <a:ext cx="4983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Python → Programming</a:t>
            </a:r>
            <a:endParaRPr sz="1700"/>
          </a:p>
          <a:p>
            <a:r>
              <a:rPr sz="1700"/>
              <a:t>SQL → Database</a:t>
            </a:r>
            <a:endParaRPr sz="1700"/>
          </a:p>
          <a:p>
            <a:r>
              <a:rPr sz="1700"/>
              <a:t>Power BI → BI</a:t>
            </a:r>
            <a:endParaRPr sz="1700"/>
          </a:p>
          <a:p>
            <a:r>
              <a:rPr sz="1700"/>
              <a:t>Excel → Analytics</a:t>
            </a:r>
            <a:endParaRPr sz="1700"/>
          </a:p>
        </p:txBody>
      </p:sp>
      <p:sp>
        <p:nvSpPr>
          <p:cNvPr id="15" name="Rounded Rectangle 14"/>
          <p:cNvSpPr/>
          <p:nvPr/>
        </p:nvSpPr>
        <p:spPr>
          <a:xfrm>
            <a:off x="2743200" y="5669280"/>
            <a:ext cx="6675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0025" y="5845175"/>
            <a:ext cx="76200" cy="887095"/>
          </a:xfrm>
          <a:prstGeom prst="rect">
            <a:avLst/>
          </a:prstGeom>
          <a:solidFill>
            <a:srgbClr val="2F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5833872"/>
            <a:ext cx="6355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/>
              <a:t>Application Flow</a:t>
            </a:r>
            <a:endParaRPr sz="1500"/>
          </a:p>
        </p:txBody>
      </p:sp>
      <p:sp>
        <p:nvSpPr>
          <p:cNvPr id="18" name="TextBox 17"/>
          <p:cNvSpPr txBox="1"/>
          <p:nvPr/>
        </p:nvSpPr>
        <p:spPr>
          <a:xfrm>
            <a:off x="2944368" y="6199380"/>
            <a:ext cx="635508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Login → Job Description → Skill Extraction → Category Mapping → Final Output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Conclusion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955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6F78"/>
                </a:solidFill>
                <a:latin typeface="Aptos"/>
              </a:rPr>
              <a:t>Overall project outcome – Day 1 to Day 18</a:t>
            </a:r>
            <a:endParaRPr sz="1150">
              <a:solidFill>
                <a:srgbClr val="696F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15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058400" cy="438912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137"/>
                </a:solidFill>
                <a:latin typeface="Aptos"/>
              </a:defRPr>
            </a:pPr>
            <a:r>
              <a:t>The project started with understanding the skill extraction problem and preparing a real job dataset.</a:t>
            </a:r>
          </a:p>
          <a:p>
            <a:pPr>
              <a:spcAft>
                <a:spcPts val="900"/>
              </a:spcAft>
              <a:defRPr sz="1800">
                <a:solidFill>
                  <a:srgbClr val="2D3137"/>
                </a:solidFill>
                <a:latin typeface="Aptos"/>
              </a:defRPr>
            </a:pPr>
            <a:r>
              <a:t>EDA and data cleaning prepared the text for NLP processing.</a:t>
            </a:r>
          </a:p>
          <a:p>
            <a:pPr>
              <a:spcAft>
                <a:spcPts val="900"/>
              </a:spcAft>
              <a:defRPr sz="1800">
                <a:solidFill>
                  <a:srgbClr val="2D3137"/>
                </a:solidFill>
                <a:latin typeface="Aptos"/>
              </a:defRPr>
            </a:pPr>
            <a:r>
              <a:t>Rule-based, statistical NLP, semantic, NER and supervised ML approaches were explored.</a:t>
            </a:r>
          </a:p>
          <a:p>
            <a:pPr>
              <a:spcAft>
                <a:spcPts val="900"/>
              </a:spcAft>
              <a:defRPr sz="1800">
                <a:solidFill>
                  <a:srgbClr val="2D3137"/>
                </a:solidFill>
                <a:latin typeface="Aptos"/>
              </a:defRPr>
            </a:pPr>
            <a:r>
              <a:t>Skill normalization reduced differences such as Python3, Python 3 and Python programming.</a:t>
            </a:r>
          </a:p>
          <a:p>
            <a:pPr>
              <a:spcAft>
                <a:spcPts val="900"/>
              </a:spcAft>
              <a:defRPr sz="1800">
                <a:solidFill>
                  <a:srgbClr val="2D3137"/>
                </a:solidFill>
                <a:latin typeface="Aptos"/>
              </a:defRPr>
            </a:pPr>
            <a:r>
              <a:t>Power BI converted the final skill information into a business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5532120"/>
            <a:ext cx="7680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40280" y="5532120"/>
            <a:ext cx="73152" cy="658368"/>
          </a:xfrm>
          <a:prstGeom prst="rect">
            <a:avLst/>
          </a:prstGeom>
          <a:solidFill>
            <a:srgbClr val="44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575" y="5696585"/>
            <a:ext cx="7279005" cy="11303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One-line outcome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41448" y="6071616"/>
            <a:ext cx="736092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300">
              <a:solidFill>
                <a:srgbClr val="2D3137"/>
              </a:solidFill>
              <a:latin typeface="Aptos"/>
            </a:endParaRPr>
          </a:p>
          <a:p>
            <a:r>
              <a:rPr sz="1300">
                <a:solidFill>
                  <a:srgbClr val="2D3137"/>
                </a:solidFill>
                <a:latin typeface="Aptos"/>
              </a:rPr>
              <a:t>A complete workflow was developed to extract, standardize and analyze skills from job descriptions.</a:t>
            </a:r>
            <a:endParaRPr sz="13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9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Future Improvements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09960" y="155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16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137"/>
                </a:solidFill>
                <a:latin typeface="Aptos"/>
              </a:defRPr>
            </a:pPr>
            <a:r>
              <a:t>Fine-tune a transformer model specifically for technical skill extraction.</a:t>
            </a:r>
          </a:p>
          <a:p>
            <a:pPr>
              <a:spcAft>
                <a:spcPts val="900"/>
              </a:spcAft>
              <a:defRPr sz="1800">
                <a:solidFill>
                  <a:srgbClr val="2D3137"/>
                </a:solidFill>
                <a:latin typeface="Aptos"/>
              </a:defRPr>
            </a:pPr>
            <a:r>
              <a:t>Expand the skill taxonomy and alias dictionary with more technologies.</a:t>
            </a:r>
          </a:p>
          <a:p>
            <a:pPr>
              <a:spcAft>
                <a:spcPts val="900"/>
              </a:spcAft>
              <a:defRPr sz="1800">
                <a:solidFill>
                  <a:srgbClr val="2D3137"/>
                </a:solidFill>
                <a:latin typeface="Aptos"/>
              </a:defRPr>
            </a:pPr>
            <a:r>
              <a:t>Improve handling of spelling variations, synonyms and unknown skills.</a:t>
            </a:r>
          </a:p>
          <a:p>
            <a:pPr>
              <a:spcAft>
                <a:spcPts val="900"/>
              </a:spcAft>
              <a:defRPr sz="1800">
                <a:solidFill>
                  <a:srgbClr val="2D3137"/>
                </a:solidFill>
                <a:latin typeface="Aptos"/>
              </a:defRPr>
            </a:pPr>
            <a:r>
              <a:t>Add more detailed evaluation using precision, recall and F1-score.</a:t>
            </a:r>
          </a:p>
          <a:p>
            <a:pPr>
              <a:spcAft>
                <a:spcPts val="900"/>
              </a:spcAft>
              <a:defRPr sz="1800">
                <a:solidFill>
                  <a:srgbClr val="2D3137"/>
                </a:solidFill>
                <a:latin typeface="Aptos"/>
              </a:defRPr>
            </a:pPr>
            <a:r>
              <a:t>Develop a simple application/API for real-time job-description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532120"/>
            <a:ext cx="6400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5532120"/>
            <a:ext cx="73152" cy="658368"/>
          </a:xfrm>
          <a:prstGeom prst="rect">
            <a:avLst/>
          </a:prstGeom>
          <a:solidFill>
            <a:srgbClr val="2F5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655" y="5696585"/>
            <a:ext cx="6204585" cy="86804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700" b="1">
                <a:solidFill>
                  <a:srgbClr val="182B4D"/>
                </a:solidFill>
                <a:latin typeface="Aptos Display"/>
              </a:rPr>
              <a:t>Final Goal</a:t>
            </a:r>
            <a:endParaRPr sz="1700" b="1">
              <a:solidFill>
                <a:srgbClr val="182B4D"/>
              </a:solidFill>
              <a:latin typeface="Aptos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81655" y="6071870"/>
            <a:ext cx="6208395" cy="4451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sz="1300">
              <a:solidFill>
                <a:srgbClr val="2D3137"/>
              </a:solidFill>
              <a:latin typeface="Aptos"/>
            </a:endParaRPr>
          </a:p>
          <a:p>
            <a:r>
              <a:rPr sz="1300">
                <a:solidFill>
                  <a:srgbClr val="2D3137"/>
                </a:solidFill>
                <a:latin typeface="Aptos"/>
              </a:rPr>
              <a:t>Make skill extraction more accurate, scalable and useful for recruitment analytics.</a:t>
            </a:r>
            <a:endParaRPr sz="1300">
              <a:solidFill>
                <a:srgbClr val="2D3137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6468</Words>
  <Application>WPS Presentation</Application>
  <PresentationFormat>On-screen Show (4:3)</PresentationFormat>
  <Paragraphs>377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Suraj Kumbhar</cp:lastModifiedBy>
  <cp:revision>5</cp:revision>
  <dcterms:created xsi:type="dcterms:W3CDTF">2013-01-27T09:14:00Z</dcterms:created>
  <dcterms:modified xsi:type="dcterms:W3CDTF">2026-09-06T15:20:38Z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66B00BED0A6641DC8DAB40F00B0EC652_13</vt:lpwstr>
  </property>
</Properties>
</file>